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1"/>
  </p:notesMasterIdLst>
  <p:sldIdLst>
    <p:sldId id="258" r:id="rId5"/>
    <p:sldId id="259" r:id="rId6"/>
    <p:sldId id="261" r:id="rId7"/>
    <p:sldId id="320" r:id="rId8"/>
    <p:sldId id="300" r:id="rId9"/>
    <p:sldId id="321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6112"/>
    <a:srgbClr val="EBBA95"/>
    <a:srgbClr val="1B4C73"/>
    <a:srgbClr val="845C3C"/>
    <a:srgbClr val="D36C14"/>
    <a:srgbClr val="1C4C73"/>
    <a:srgbClr val="BC6424"/>
    <a:srgbClr val="FEFA44"/>
    <a:srgbClr val="FDFDB5"/>
    <a:srgbClr val="D5D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18" autoAdjust="0"/>
    <p:restoredTop sz="94658"/>
  </p:normalViewPr>
  <p:slideViewPr>
    <p:cSldViewPr snapToGrid="0">
      <p:cViewPr varScale="1">
        <p:scale>
          <a:sx n="89" d="100"/>
          <a:sy n="89" d="100"/>
        </p:scale>
        <p:origin x="102" y="282"/>
      </p:cViewPr>
      <p:guideLst/>
    </p:cSldViewPr>
  </p:slideViewPr>
  <p:notesTextViewPr>
    <p:cViewPr>
      <p:scale>
        <a:sx n="25" d="100"/>
        <a:sy n="2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C8EEC-5B4C-4D12-A793-E0F68C99B5A4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3CB74-7627-4F18-B7D5-33D664269AB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8184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3CB74-7627-4F18-B7D5-33D664269ABC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5534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4978CA-171E-D4CC-6CB3-729DBC820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2477E6-2457-FB13-3C69-6109F6FE0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F3E0B6-958C-F264-7231-2F81A32CD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9113-1BA5-47C3-B732-EFD14FD561F6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910E2A-02EA-78A3-0AB1-89B62A731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CD048A-F43A-80B0-A92F-79A81A2A0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D26C3-093A-47DA-8E48-781458D245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7338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202F6C-C42C-485D-CB40-66798175B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28F18C-0CAE-EA0F-60D8-5AB72C60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54CDE5-53A1-E7EE-AB68-CE609128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9113-1BA5-47C3-B732-EFD14FD561F6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38CF65-0E9E-F07A-E87B-70A44405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3BB816-7C26-9B2E-E7BF-8100C543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D26C3-093A-47DA-8E48-781458D245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6034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3D3311-B80F-EC00-9BE9-FADAA33B8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C85C97-E7C1-72B9-92C8-D85695C71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63FD5D-356D-0CB5-BA88-C572DD470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9113-1BA5-47C3-B732-EFD14FD561F6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4BDEFA-431F-8828-841E-7EA61C097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25B322-9DE8-9636-EEC6-696B023CE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D26C3-093A-47DA-8E48-781458D245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8798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A3B27-599F-6936-F27D-D92FF85B8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19077B-8EB2-791A-0169-3E708E83D6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ED3779-9BD2-6C28-11B1-464F1FAFA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065443-A7E2-B435-A666-A367D7B13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9113-1BA5-47C3-B732-EFD14FD561F6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CF9532E-4D05-20AD-0C2C-42256E596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3C21B8-E815-BC6F-5DD7-B6DEFB148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D26C3-093A-47DA-8E48-781458D245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0325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1971E6-6E3C-636B-BE00-3754610A5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34A455-4A80-BCFB-7878-C0F41D024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651DFE-4A1A-2CCE-5925-B377A0324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BA2C086-ECDA-5827-D377-E110ECA27F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DAD9308-ACD8-28A4-671B-AEF91140C6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3A623B7-4702-DAD7-AA86-67AFA5747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9113-1BA5-47C3-B732-EFD14FD561F6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329DCA6-C4ED-8D75-8100-1FE0E75E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45502AD-1101-EA57-88CD-D39D58E12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D26C3-093A-47DA-8E48-781458D245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1661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B62C1D-5F1C-5136-8196-EE335A4F2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D4631EE-1B38-C9CA-1424-744F2BF5B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9113-1BA5-47C3-B732-EFD14FD561F6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DC7BFDD-4030-17B2-6FE4-F05FA71A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AC382B3-A460-FB0E-2F1C-BE046D3D3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D26C3-093A-47DA-8E48-781458D245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548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52DC748-AE51-623B-694F-7117AD1A7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9113-1BA5-47C3-B732-EFD14FD561F6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3C0EB57-007E-6861-ECDE-20144E80E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01B265-25FB-9849-BCB2-3E6676B6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D26C3-093A-47DA-8E48-781458D245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0395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39AD12-A168-3006-E402-3029B9824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A69610-4EB6-1933-F8A2-269933303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4A9A67-9278-83D7-6143-5021B721C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EAB692-4486-7786-D881-A872F236A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9113-1BA5-47C3-B732-EFD14FD561F6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89C3D0-162E-55C8-D5E4-3DD3669C2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91FA99-977D-43EA-2EB7-CE52625B0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D26C3-093A-47DA-8E48-781458D245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9747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450A87-AA28-E631-09CD-BDF9EECDB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D2F1222-6C4F-27EC-305B-1CD564235A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C9FC5E-167C-0ED0-E833-7605C0104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CFF493-9010-D2BA-7070-249BE6B0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9113-1BA5-47C3-B732-EFD14FD561F6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2037CF-0720-EDE7-C74D-14DCF376C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002ABBC-2C8E-86F7-8A87-6C984D7F7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D26C3-093A-47DA-8E48-781458D245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717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131D0-5592-F4F5-7999-F64873E57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8453D0-D762-A2D1-B4EE-96F9A12B3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1029A9-34FB-7CE6-B0C0-3264261C8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9113-1BA5-47C3-B732-EFD14FD561F6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612CE0-C129-D873-009A-2442FA64A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2C6579-9429-06B3-27C0-69398358A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D26C3-093A-47DA-8E48-781458D245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5308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5E6357A-6D6C-8216-75B8-32BE3017C2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C76649B-2F3B-160B-0142-F903277A8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E7B685-057C-8784-A9DB-8C723645D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9113-1BA5-47C3-B732-EFD14FD561F6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431F5E-75A3-4E63-BFA6-AC7F5E440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8F480C-AC29-B9BD-C3A3-64802C3C2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D26C3-093A-47DA-8E48-781458D245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1948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59E5CD6-129A-2B03-6A4E-7DB20D65C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1B213B-0B71-513D-1479-AE92766EB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59154F-35D1-26BA-F4DC-7675FDA687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1E9113-1BA5-47C3-B732-EFD14FD561F6}" type="datetimeFigureOut">
              <a:rPr lang="es-ES" smtClean="0"/>
              <a:t>08/09/2026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B8C20C-8066-B3D9-1E3F-3568ADBF3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1D8944-6B61-E889-FECE-A68E61818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9D26C3-093A-47DA-8E48-781458D245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2502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javieregeablasco.github.io/Apuntes/DAW/DAW_2/AWS/UT.%200-Temar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D8B487D-AF5F-5434-6F40-D47E8A15B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8979"/>
            <a:ext cx="9144000" cy="2221004"/>
          </a:xfrm>
        </p:spPr>
        <p:txBody>
          <a:bodyPr>
            <a:normAutofit/>
          </a:bodyPr>
          <a:lstStyle/>
          <a:p>
            <a:r>
              <a:rPr lang="ca-ES-valencia" altLang="es-ES_tradnl" sz="5400" b="1" dirty="0">
                <a:solidFill>
                  <a:srgbClr val="845C3C"/>
                </a:solidFill>
                <a:latin typeface="Arial"/>
                <a:cs typeface="Arial"/>
              </a:rPr>
              <a:t>UT0. PRESENTACIÓN</a:t>
            </a:r>
            <a:endParaRPr lang="ca-ES-valencia" sz="5400" b="1" dirty="0">
              <a:solidFill>
                <a:srgbClr val="845C3C"/>
              </a:solidFill>
              <a:latin typeface="Arial"/>
              <a:cs typeface="Arial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80AF1F3-B3F0-8E02-0887-B16E70792479}"/>
              </a:ext>
            </a:extLst>
          </p:cNvPr>
          <p:cNvSpPr/>
          <p:nvPr/>
        </p:nvSpPr>
        <p:spPr>
          <a:xfrm>
            <a:off x="802433" y="3659318"/>
            <a:ext cx="10580914" cy="45719"/>
          </a:xfrm>
          <a:prstGeom prst="rect">
            <a:avLst/>
          </a:prstGeom>
          <a:solidFill>
            <a:srgbClr val="845C3C"/>
          </a:solidFill>
          <a:ln>
            <a:solidFill>
              <a:srgbClr val="845C3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a-ES-valencia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78A1E57-E4B6-277D-CADB-8396890D0D90}"/>
              </a:ext>
            </a:extLst>
          </p:cNvPr>
          <p:cNvSpPr/>
          <p:nvPr/>
        </p:nvSpPr>
        <p:spPr>
          <a:xfrm>
            <a:off x="0" y="6307494"/>
            <a:ext cx="12192000" cy="5505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-valencia" dirty="0"/>
          </a:p>
        </p:txBody>
      </p:sp>
      <p:pic>
        <p:nvPicPr>
          <p:cNvPr id="1028" name="Picture 4" descr="Fons Social Europeu – IES LA MAR – XÀBIA">
            <a:extLst>
              <a:ext uri="{FF2B5EF4-FFF2-40B4-BE49-F238E27FC236}">
                <a16:creationId xmlns:a16="http://schemas.microsoft.com/office/drawing/2014/main" id="{6E0D599B-EF4F-3F18-42D0-EC5DD1A608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5" r="8879"/>
          <a:stretch/>
        </p:blipFill>
        <p:spPr bwMode="auto">
          <a:xfrm>
            <a:off x="802433" y="595544"/>
            <a:ext cx="2743200" cy="878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 12" descr="Texto&#10;&#10;Descripción generada automáticamente">
            <a:extLst>
              <a:ext uri="{FF2B5EF4-FFF2-40B4-BE49-F238E27FC236}">
                <a16:creationId xmlns:a16="http://schemas.microsoft.com/office/drawing/2014/main" id="{CCB37779-839E-026B-79ED-4C7147E2AF3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50" t="3853" r="17988" b="25684"/>
          <a:stretch/>
        </p:blipFill>
        <p:spPr>
          <a:xfrm>
            <a:off x="9197789" y="440658"/>
            <a:ext cx="2185558" cy="1188000"/>
          </a:xfrm>
          <a:prstGeom prst="rect">
            <a:avLst/>
          </a:prstGeom>
        </p:spPr>
      </p:pic>
      <p:pic>
        <p:nvPicPr>
          <p:cNvPr id="10" name="Imagen 9" descr="Logotipo&#10;&#10;Descripción generada automáticamente">
            <a:extLst>
              <a:ext uri="{FF2B5EF4-FFF2-40B4-BE49-F238E27FC236}">
                <a16:creationId xmlns:a16="http://schemas.microsoft.com/office/drawing/2014/main" id="{C6CB0C56-0D13-131B-119C-E9208C2B1F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890" y="236808"/>
            <a:ext cx="1620000" cy="1595700"/>
          </a:xfrm>
          <a:prstGeom prst="rect">
            <a:avLst/>
          </a:prstGeom>
        </p:spPr>
      </p:pic>
      <p:sp>
        <p:nvSpPr>
          <p:cNvPr id="14" name="Subtítulo 4">
            <a:extLst>
              <a:ext uri="{FF2B5EF4-FFF2-40B4-BE49-F238E27FC236}">
                <a16:creationId xmlns:a16="http://schemas.microsoft.com/office/drawing/2014/main" id="{24E614EF-F76E-A73B-A3AC-85D064BCD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27410"/>
            <a:ext cx="9144000" cy="2784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3200" b="1" dirty="0"/>
              <a:t>Introducción a la nube pública</a:t>
            </a:r>
            <a:endParaRPr lang="ca-ES-valencia" sz="3200" b="1" dirty="0">
              <a:latin typeface="Arial"/>
              <a:cs typeface="Arial"/>
            </a:endParaRPr>
          </a:p>
          <a:p>
            <a:r>
              <a:rPr lang="ca-ES-valencia" sz="2100" dirty="0">
                <a:latin typeface="Arial" panose="020B0604020202020204" pitchFamily="34" charset="0"/>
                <a:cs typeface="Arial" panose="020B0604020202020204" pitchFamily="34" charset="0"/>
              </a:rPr>
              <a:t>Optativa SMX / DAW</a:t>
            </a:r>
          </a:p>
          <a:p>
            <a:endParaRPr lang="ca-ES-valencia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a-ES-valencia" dirty="0">
                <a:latin typeface="Arial"/>
                <a:cs typeface="Arial"/>
              </a:rPr>
              <a:t>JAVIER EGEA BLASCO</a:t>
            </a:r>
          </a:p>
          <a:p>
            <a:r>
              <a:rPr lang="ca-ES-valencia" dirty="0">
                <a:latin typeface="Arial"/>
                <a:cs typeface="Arial"/>
              </a:rPr>
              <a:t>CURSO</a:t>
            </a:r>
            <a:r>
              <a:rPr lang="ca-ES-valencia" sz="2400" dirty="0">
                <a:latin typeface="Arial"/>
                <a:cs typeface="Arial"/>
              </a:rPr>
              <a:t> </a:t>
            </a:r>
            <a:r>
              <a:rPr lang="ca-ES-valencia" dirty="0">
                <a:latin typeface="Arial"/>
                <a:cs typeface="Arial"/>
              </a:rPr>
              <a:t>2026/27</a:t>
            </a:r>
            <a:r>
              <a:rPr lang="ca-ES-valencia" sz="2400" dirty="0">
                <a:latin typeface="Arial"/>
                <a:cs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1844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 descr="Un conjunto de letras negras en un fondo negro&#10;&#10;Descripción generada automáticamente con confianza baja">
            <a:extLst>
              <a:ext uri="{FF2B5EF4-FFF2-40B4-BE49-F238E27FC236}">
                <a16:creationId xmlns:a16="http://schemas.microsoft.com/office/drawing/2014/main" id="{99436E5B-950D-DFDD-2D54-7D4C15F92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5" y="293532"/>
            <a:ext cx="1620000" cy="43011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2B1DAF6A-2B12-2103-3849-03E8B4908331}"/>
              </a:ext>
            </a:extLst>
          </p:cNvPr>
          <p:cNvSpPr/>
          <p:nvPr/>
        </p:nvSpPr>
        <p:spPr>
          <a:xfrm>
            <a:off x="0" y="6244179"/>
            <a:ext cx="12192000" cy="613821"/>
          </a:xfrm>
          <a:prstGeom prst="rect">
            <a:avLst/>
          </a:prstGeom>
          <a:solidFill>
            <a:srgbClr val="EBBA95"/>
          </a:solidFill>
          <a:ln>
            <a:solidFill>
              <a:srgbClr val="D6E1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6">
            <a:extLst>
              <a:ext uri="{FF2B5EF4-FFF2-40B4-BE49-F238E27FC236}">
                <a16:creationId xmlns:a16="http://schemas.microsoft.com/office/drawing/2014/main" id="{57BB7AF5-7403-F1FF-2E83-6C6AE65579C1}"/>
              </a:ext>
            </a:extLst>
          </p:cNvPr>
          <p:cNvSpPr txBox="1">
            <a:spLocks/>
          </p:cNvSpPr>
          <p:nvPr/>
        </p:nvSpPr>
        <p:spPr>
          <a:xfrm>
            <a:off x="1895061" y="235793"/>
            <a:ext cx="8401878" cy="5668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a-ES-valencia" sz="3000" b="1" dirty="0">
                <a:solidFill>
                  <a:srgbClr val="1C4C73"/>
                </a:solidFill>
                <a:latin typeface="Arial"/>
                <a:cs typeface="Arial"/>
              </a:rPr>
              <a:t>ÍNDICE</a:t>
            </a:r>
            <a:endParaRPr lang="ca-ES-valencia" sz="2000" dirty="0">
              <a:solidFill>
                <a:srgbClr val="1C4C7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3513527-B3F1-451D-E616-97A67FBA2EA6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D36C14"/>
          </a:solidFill>
          <a:ln>
            <a:solidFill>
              <a:srgbClr val="D36C1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a-ES-valencia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CEA9969-48D3-52E4-2570-E4B2149BC83B}"/>
              </a:ext>
            </a:extLst>
          </p:cNvPr>
          <p:cNvSpPr/>
          <p:nvPr/>
        </p:nvSpPr>
        <p:spPr>
          <a:xfrm>
            <a:off x="0" y="6178998"/>
            <a:ext cx="12192000" cy="69402"/>
          </a:xfrm>
          <a:prstGeom prst="rect">
            <a:avLst/>
          </a:prstGeom>
          <a:solidFill>
            <a:srgbClr val="845C3C"/>
          </a:solidFill>
          <a:ln>
            <a:solidFill>
              <a:srgbClr val="845C3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a-ES-valencia" dirty="0"/>
          </a:p>
        </p:txBody>
      </p:sp>
      <p:sp>
        <p:nvSpPr>
          <p:cNvPr id="9" name="Subtítulo 4">
            <a:extLst>
              <a:ext uri="{FF2B5EF4-FFF2-40B4-BE49-F238E27FC236}">
                <a16:creationId xmlns:a16="http://schemas.microsoft.com/office/drawing/2014/main" id="{A34C720E-2407-8CE4-26CE-C2C710E8503B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3637280" cy="609600"/>
          </a:xfrm>
          <a:prstGeom prst="rect">
            <a:avLst/>
          </a:prstGeom>
        </p:spPr>
        <p:txBody>
          <a:bodyPr lIns="91440" tIns="45720" rIns="91440" bIns="4572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a-ES-valencia" sz="2000" dirty="0">
                <a:latin typeface="Arial"/>
                <a:cs typeface="Arial"/>
              </a:rPr>
              <a:t>UT0. </a:t>
            </a:r>
            <a:r>
              <a:rPr lang="ca-ES-valencia" sz="2000" dirty="0" err="1">
                <a:latin typeface="Arial"/>
                <a:cs typeface="Arial"/>
              </a:rPr>
              <a:t>Presentación</a:t>
            </a:r>
            <a:endParaRPr lang="ca-ES-valencia" sz="20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ubtítulo 4">
            <a:extLst>
              <a:ext uri="{FF2B5EF4-FFF2-40B4-BE49-F238E27FC236}">
                <a16:creationId xmlns:a16="http://schemas.microsoft.com/office/drawing/2014/main" id="{AF908B4E-074F-FDA1-24C0-2F469020A6BA}"/>
              </a:ext>
            </a:extLst>
          </p:cNvPr>
          <p:cNvSpPr txBox="1">
            <a:spLocks/>
          </p:cNvSpPr>
          <p:nvPr/>
        </p:nvSpPr>
        <p:spPr>
          <a:xfrm>
            <a:off x="513909" y="1284928"/>
            <a:ext cx="11164181" cy="4648511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+mj-lt"/>
              <a:buAutoNum type="arabicPeriod"/>
            </a:pPr>
            <a:r>
              <a:rPr lang="ca-ES-valencia" sz="2000" b="1" dirty="0" err="1">
                <a:latin typeface="Arial"/>
                <a:cs typeface="Arial"/>
              </a:rPr>
              <a:t>Módulo</a:t>
            </a:r>
            <a:r>
              <a:rPr lang="ca-ES-valencia" sz="2000" b="1" dirty="0">
                <a:latin typeface="Arial"/>
                <a:cs typeface="Arial"/>
              </a:rPr>
              <a:t> </a:t>
            </a:r>
            <a:r>
              <a:rPr lang="ca-ES-valencia" sz="2000" b="1" dirty="0" err="1">
                <a:latin typeface="Arial"/>
                <a:cs typeface="Arial"/>
              </a:rPr>
              <a:t>profesional</a:t>
            </a:r>
            <a:r>
              <a:rPr lang="ca-ES-valencia" sz="2000" b="1" dirty="0">
                <a:latin typeface="Arial"/>
                <a:cs typeface="Arial"/>
              </a:rPr>
              <a:t> y </a:t>
            </a:r>
            <a:r>
              <a:rPr lang="ca-ES-valencia" sz="2000" b="1" dirty="0" err="1">
                <a:latin typeface="Arial"/>
                <a:cs typeface="Arial"/>
              </a:rPr>
              <a:t>profesor</a:t>
            </a:r>
            <a:r>
              <a:rPr lang="ca-ES-valencia" sz="2000" b="1" dirty="0">
                <a:latin typeface="Arial"/>
                <a:cs typeface="Arial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ca-ES-valencia" sz="2000" b="1" dirty="0" err="1">
                <a:latin typeface="Arial"/>
                <a:cs typeface="Arial"/>
              </a:rPr>
              <a:t>Horario</a:t>
            </a:r>
            <a:r>
              <a:rPr lang="ca-ES-valencia" sz="2000" b="1" dirty="0">
                <a:latin typeface="Arial"/>
                <a:cs typeface="Arial"/>
              </a:rPr>
              <a:t>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ca-ES-valencia" sz="2000" b="1" dirty="0" err="1">
                <a:latin typeface="Arial"/>
                <a:cs typeface="Arial"/>
              </a:rPr>
              <a:t>Unidades</a:t>
            </a:r>
            <a:r>
              <a:rPr lang="ca-ES-valencia" sz="2000" b="1" dirty="0">
                <a:latin typeface="Arial"/>
                <a:cs typeface="Arial"/>
              </a:rPr>
              <a:t> de </a:t>
            </a:r>
            <a:r>
              <a:rPr lang="ca-ES-valencia" sz="2000" b="1" dirty="0" err="1">
                <a:latin typeface="Arial"/>
                <a:cs typeface="Arial"/>
              </a:rPr>
              <a:t>trabajo</a:t>
            </a:r>
            <a:r>
              <a:rPr lang="ca-ES-valencia" sz="2000" b="1" dirty="0">
                <a:latin typeface="Arial"/>
                <a:cs typeface="Arial"/>
              </a:rPr>
              <a:t>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ca-ES-valencia" sz="1800" dirty="0">
                <a:latin typeface="Arial"/>
                <a:cs typeface="Arial"/>
              </a:rPr>
              <a:t>Resultados de aprendizaje (RA).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ca-ES-valencia" sz="1800" dirty="0" err="1">
                <a:latin typeface="Arial"/>
                <a:cs typeface="Arial"/>
              </a:rPr>
              <a:t>Criterios</a:t>
            </a:r>
            <a:r>
              <a:rPr lang="ca-ES-valencia" sz="1800" dirty="0">
                <a:latin typeface="Arial"/>
                <a:cs typeface="Arial"/>
              </a:rPr>
              <a:t> de </a:t>
            </a:r>
            <a:r>
              <a:rPr lang="ca-ES-valencia" sz="1800" dirty="0" err="1">
                <a:latin typeface="Arial"/>
                <a:cs typeface="Arial"/>
              </a:rPr>
              <a:t>avaluación</a:t>
            </a:r>
            <a:r>
              <a:rPr lang="ca-ES-valencia" sz="1800" dirty="0">
                <a:latin typeface="Arial"/>
                <a:cs typeface="Arial"/>
              </a:rPr>
              <a:t> por </a:t>
            </a:r>
            <a:r>
              <a:rPr lang="ca-ES-valencia" sz="1800" dirty="0" err="1">
                <a:latin typeface="Arial"/>
                <a:cs typeface="Arial"/>
              </a:rPr>
              <a:t>resultados</a:t>
            </a:r>
            <a:r>
              <a:rPr lang="ca-ES-valencia" sz="1800" dirty="0">
                <a:latin typeface="Arial"/>
                <a:cs typeface="Arial"/>
              </a:rPr>
              <a:t> de </a:t>
            </a:r>
            <a:r>
              <a:rPr lang="ca-ES-valencia" sz="1800" dirty="0" err="1">
                <a:latin typeface="Arial"/>
                <a:cs typeface="Arial"/>
              </a:rPr>
              <a:t>aprendizaje</a:t>
            </a:r>
            <a:r>
              <a:rPr lang="ca-ES-valencia" sz="1800" dirty="0">
                <a:latin typeface="Arial"/>
                <a:cs typeface="Arial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ca-ES-valencia" sz="2000" b="1" dirty="0">
                <a:latin typeface="Arial"/>
                <a:cs typeface="Arial"/>
              </a:rPr>
              <a:t>Evaluación.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ca-ES-valencia" sz="2000" b="1" dirty="0" err="1">
                <a:latin typeface="Arial"/>
                <a:cs typeface="Arial"/>
              </a:rPr>
              <a:t>Preguntas</a:t>
            </a:r>
            <a:r>
              <a:rPr lang="ca-ES-valencia" sz="2000" b="1" dirty="0">
                <a:latin typeface="Arial"/>
                <a:cs typeface="Arial"/>
              </a:rPr>
              <a:t>.</a:t>
            </a:r>
          </a:p>
        </p:txBody>
      </p:sp>
      <p:pic>
        <p:nvPicPr>
          <p:cNvPr id="8" name="Imagen 7" descr="Imagen que contiene firmar, exterior, tráfico, bicicleta&#10;&#10;Descripción generada automáticamente">
            <a:extLst>
              <a:ext uri="{FF2B5EF4-FFF2-40B4-BE49-F238E27FC236}">
                <a16:creationId xmlns:a16="http://schemas.microsoft.com/office/drawing/2014/main" id="{8037CF37-B66B-F05C-41F6-7679E818B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509" y="6268720"/>
            <a:ext cx="578979" cy="585059"/>
          </a:xfrm>
          <a:prstGeom prst="rect">
            <a:avLst/>
          </a:prstGeom>
        </p:spPr>
      </p:pic>
      <p:sp>
        <p:nvSpPr>
          <p:cNvPr id="3" name="Subtítulo 4">
            <a:extLst>
              <a:ext uri="{FF2B5EF4-FFF2-40B4-BE49-F238E27FC236}">
                <a16:creationId xmlns:a16="http://schemas.microsoft.com/office/drawing/2014/main" id="{C1151D43-2AB7-34E0-360D-D308D7F7AE36}"/>
              </a:ext>
            </a:extLst>
          </p:cNvPr>
          <p:cNvSpPr txBox="1">
            <a:spLocks/>
          </p:cNvSpPr>
          <p:nvPr/>
        </p:nvSpPr>
        <p:spPr>
          <a:xfrm>
            <a:off x="7672345" y="6244179"/>
            <a:ext cx="4519655" cy="609600"/>
          </a:xfrm>
          <a:prstGeom prst="rect">
            <a:avLst/>
          </a:prstGeom>
        </p:spPr>
        <p:txBody>
          <a:bodyPr lIns="91440" tIns="45720" rIns="91440" bIns="4572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ca-ES-valencia" sz="1800" dirty="0">
                <a:latin typeface="Arial"/>
                <a:cs typeface="Arial"/>
              </a:rPr>
              <a:t>Introducción a la nube pública</a:t>
            </a:r>
          </a:p>
        </p:txBody>
      </p:sp>
    </p:spTree>
    <p:extLst>
      <p:ext uri="{BB962C8B-B14F-4D97-AF65-F5344CB8AC3E}">
        <p14:creationId xmlns:p14="http://schemas.microsoft.com/office/powerpoint/2010/main" val="3132210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6CA59CFC-1578-8422-841D-453DD64AB552}"/>
              </a:ext>
            </a:extLst>
          </p:cNvPr>
          <p:cNvSpPr/>
          <p:nvPr/>
        </p:nvSpPr>
        <p:spPr>
          <a:xfrm>
            <a:off x="0" y="6244179"/>
            <a:ext cx="12192000" cy="613821"/>
          </a:xfrm>
          <a:prstGeom prst="rect">
            <a:avLst/>
          </a:prstGeom>
          <a:solidFill>
            <a:srgbClr val="EBBA95"/>
          </a:solidFill>
          <a:ln>
            <a:solidFill>
              <a:srgbClr val="EBB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3513527-B3F1-451D-E616-97A67FBA2EA6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D36C14"/>
          </a:solidFill>
          <a:ln>
            <a:solidFill>
              <a:srgbClr val="D36C1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a-ES-valencia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CEA9969-48D3-52E4-2570-E4B2149BC83B}"/>
              </a:ext>
            </a:extLst>
          </p:cNvPr>
          <p:cNvSpPr/>
          <p:nvPr/>
        </p:nvSpPr>
        <p:spPr>
          <a:xfrm>
            <a:off x="0" y="6178998"/>
            <a:ext cx="12192000" cy="69402"/>
          </a:xfrm>
          <a:prstGeom prst="rect">
            <a:avLst/>
          </a:prstGeom>
          <a:solidFill>
            <a:srgbClr val="845C3C"/>
          </a:solidFill>
          <a:ln>
            <a:solidFill>
              <a:srgbClr val="845C3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a-ES-valencia" dirty="0"/>
          </a:p>
        </p:txBody>
      </p:sp>
      <p:sp>
        <p:nvSpPr>
          <p:cNvPr id="4" name="Título 6">
            <a:extLst>
              <a:ext uri="{FF2B5EF4-FFF2-40B4-BE49-F238E27FC236}">
                <a16:creationId xmlns:a16="http://schemas.microsoft.com/office/drawing/2014/main" id="{E7527C02-64E4-86C9-9CFA-13F7993291DE}"/>
              </a:ext>
            </a:extLst>
          </p:cNvPr>
          <p:cNvSpPr txBox="1">
            <a:spLocks/>
          </p:cNvSpPr>
          <p:nvPr/>
        </p:nvSpPr>
        <p:spPr>
          <a:xfrm>
            <a:off x="1895061" y="289112"/>
            <a:ext cx="8401878" cy="76793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a-ES-valencia" sz="3000" b="1" dirty="0">
                <a:solidFill>
                  <a:srgbClr val="1C4C73"/>
                </a:solidFill>
                <a:latin typeface="Arial"/>
                <a:cs typeface="Arial"/>
              </a:rPr>
              <a:t>MODULO PROFESIONAL Y PROFESOR</a:t>
            </a:r>
            <a:br>
              <a:rPr lang="ca-ES-valencia" sz="3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ca-ES-valencia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agen 16" descr="Imagen que contiene firmar, exterior, tráfico, bicicleta&#10;&#10;Descripción generada automáticamente">
            <a:extLst>
              <a:ext uri="{FF2B5EF4-FFF2-40B4-BE49-F238E27FC236}">
                <a16:creationId xmlns:a16="http://schemas.microsoft.com/office/drawing/2014/main" id="{E6AB5299-DA67-B3FC-6BFA-038956705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509" y="6268720"/>
            <a:ext cx="578979" cy="585059"/>
          </a:xfrm>
          <a:prstGeom prst="rect">
            <a:avLst/>
          </a:prstGeom>
        </p:spPr>
      </p:pic>
      <p:pic>
        <p:nvPicPr>
          <p:cNvPr id="22" name="Imagen 21" descr="Un conjunto de letras negras en un fondo negro&#10;&#10;Descripción generada automáticamente con confianza baja">
            <a:extLst>
              <a:ext uri="{FF2B5EF4-FFF2-40B4-BE49-F238E27FC236}">
                <a16:creationId xmlns:a16="http://schemas.microsoft.com/office/drawing/2014/main" id="{AD8F5252-C70B-72D4-1C2F-0E3C3AC8A1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5" y="293532"/>
            <a:ext cx="1620000" cy="430110"/>
          </a:xfrm>
          <a:prstGeom prst="rect">
            <a:avLst/>
          </a:prstGeom>
        </p:spPr>
      </p:pic>
      <p:sp>
        <p:nvSpPr>
          <p:cNvPr id="18" name="Google Shape;70;p14">
            <a:extLst>
              <a:ext uri="{FF2B5EF4-FFF2-40B4-BE49-F238E27FC236}">
                <a16:creationId xmlns:a16="http://schemas.microsoft.com/office/drawing/2014/main" id="{D58AA00B-CB13-BE8E-DE0E-27EA23E98D9B}"/>
              </a:ext>
            </a:extLst>
          </p:cNvPr>
          <p:cNvSpPr/>
          <p:nvPr/>
        </p:nvSpPr>
        <p:spPr>
          <a:xfrm>
            <a:off x="264961" y="1271773"/>
            <a:ext cx="11654567" cy="4565123"/>
          </a:xfrm>
          <a:prstGeom prst="wedgeRoundRectCallout">
            <a:avLst>
              <a:gd name="adj1" fmla="val -47207"/>
              <a:gd name="adj2" fmla="val 21280"/>
              <a:gd name="adj3" fmla="val 0"/>
            </a:avLst>
          </a:prstGeom>
          <a:solidFill>
            <a:srgbClr val="EBBA95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0" indent="45720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9" name="Google Shape;71;p14">
            <a:extLst>
              <a:ext uri="{FF2B5EF4-FFF2-40B4-BE49-F238E27FC236}">
                <a16:creationId xmlns:a16="http://schemas.microsoft.com/office/drawing/2014/main" id="{19EDB468-8F40-4BE5-4788-1EFD803657A3}"/>
              </a:ext>
            </a:extLst>
          </p:cNvPr>
          <p:cNvSpPr txBox="1"/>
          <p:nvPr/>
        </p:nvSpPr>
        <p:spPr>
          <a:xfrm>
            <a:off x="516269" y="1480060"/>
            <a:ext cx="11171765" cy="434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" sz="2800" b="1" dirty="0">
                <a:solidFill>
                  <a:srgbClr val="1B4C73"/>
                </a:solidFill>
                <a:latin typeface="Century Gothic"/>
                <a:ea typeface="+mn-lt"/>
                <a:cs typeface="+mn-lt"/>
                <a:sym typeface="Century Gothic"/>
              </a:rPr>
              <a:t>Mi</a:t>
            </a:r>
            <a:r>
              <a:rPr lang="es" sz="2800" b="1" dirty="0">
                <a:solidFill>
                  <a:srgbClr val="1B4C73"/>
                </a:solidFill>
                <a:latin typeface="Century Gothic"/>
                <a:sym typeface="Century Gothic"/>
              </a:rPr>
              <a:t> nombre es </a:t>
            </a:r>
            <a:r>
              <a:rPr lang="es" sz="2800" dirty="0">
                <a:solidFill>
                  <a:srgbClr val="999999"/>
                </a:solidFill>
                <a:latin typeface="Century Gothic"/>
                <a:sym typeface="Century Gothic"/>
              </a:rPr>
              <a:t>  </a:t>
            </a:r>
            <a:r>
              <a:rPr lang="es" sz="2800" dirty="0">
                <a:solidFill>
                  <a:schemeClr val="dk2"/>
                </a:solidFill>
                <a:latin typeface="Century Gothic"/>
                <a:sym typeface="Century Gothic"/>
              </a:rPr>
              <a:t> 	Javier Egea Blasco</a:t>
            </a:r>
            <a:endParaRPr sz="2800" dirty="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indent="457200">
              <a:lnSpc>
                <a:spcPct val="115000"/>
              </a:lnSpc>
            </a:pPr>
            <a:r>
              <a:rPr lang="es" sz="2800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       	j.egeablasco@edu.gva.es</a:t>
            </a:r>
            <a:endParaRPr sz="2800" dirty="0">
              <a:solidFill>
                <a:schemeClr val="dk2"/>
              </a:solidFill>
            </a:endParaRPr>
          </a:p>
          <a:p>
            <a:pPr>
              <a:lnSpc>
                <a:spcPct val="115000"/>
              </a:lnSpc>
              <a:spcBef>
                <a:spcPts val="2200"/>
              </a:spcBef>
            </a:pPr>
            <a:r>
              <a:rPr lang="es" sz="2800" b="1" dirty="0">
                <a:solidFill>
                  <a:srgbClr val="1B4C7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Módulo profesional  </a:t>
            </a:r>
            <a:r>
              <a:rPr lang="es" sz="28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</a:t>
            </a:r>
            <a:r>
              <a:rPr lang="ca-ES-valencia" sz="2800" dirty="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Introducción a la nube pública</a:t>
            </a:r>
            <a:endParaRPr lang="es" sz="2800" dirty="0" err="1">
              <a:solidFill>
                <a:schemeClr val="dk2"/>
              </a:solidFill>
              <a:latin typeface="Century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lang="es" sz="2800" b="1" dirty="0">
                <a:solidFill>
                  <a:srgbClr val="1B4C7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</a:t>
            </a:r>
            <a:endParaRPr lang="es" sz="2800" i="1" dirty="0">
              <a:solidFill>
                <a:schemeClr val="dk2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1" name="Subtítulo 4">
            <a:extLst>
              <a:ext uri="{FF2B5EF4-FFF2-40B4-BE49-F238E27FC236}">
                <a16:creationId xmlns:a16="http://schemas.microsoft.com/office/drawing/2014/main" id="{B14AAA92-D425-AB92-FF36-4369976629E8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3637280" cy="609600"/>
          </a:xfrm>
          <a:prstGeom prst="rect">
            <a:avLst/>
          </a:prstGeom>
        </p:spPr>
        <p:txBody>
          <a:bodyPr lIns="91440" tIns="45720" rIns="91440" bIns="4572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a-ES-valencia" sz="2000" dirty="0">
                <a:latin typeface="Arial"/>
                <a:cs typeface="Arial"/>
              </a:rPr>
              <a:t>UT0. </a:t>
            </a:r>
            <a:r>
              <a:rPr lang="ca-ES-valencia" sz="2000" dirty="0" err="1">
                <a:latin typeface="Arial"/>
                <a:cs typeface="Arial"/>
              </a:rPr>
              <a:t>Presentación</a:t>
            </a:r>
            <a:endParaRPr lang="ca-ES-valencia" sz="20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n 11" descr="Imagen que contiene edificio, interior, llenado, vidrio&#10;&#10;El contenido generado por IA puede ser incorrecto.">
            <a:extLst>
              <a:ext uri="{FF2B5EF4-FFF2-40B4-BE49-F238E27FC236}">
                <a16:creationId xmlns:a16="http://schemas.microsoft.com/office/drawing/2014/main" id="{4C2A9DBA-D024-FC84-F2CF-00DE00CD8C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658" y="3322672"/>
            <a:ext cx="4323701" cy="2434243"/>
          </a:xfrm>
          <a:prstGeom prst="rect">
            <a:avLst/>
          </a:prstGeom>
        </p:spPr>
      </p:pic>
      <p:sp>
        <p:nvSpPr>
          <p:cNvPr id="8" name="Subtítulo 4">
            <a:extLst>
              <a:ext uri="{FF2B5EF4-FFF2-40B4-BE49-F238E27FC236}">
                <a16:creationId xmlns:a16="http://schemas.microsoft.com/office/drawing/2014/main" id="{BF8EBB9B-91D9-B06D-F438-D580B17B150C}"/>
              </a:ext>
            </a:extLst>
          </p:cNvPr>
          <p:cNvSpPr txBox="1">
            <a:spLocks/>
          </p:cNvSpPr>
          <p:nvPr/>
        </p:nvSpPr>
        <p:spPr>
          <a:xfrm>
            <a:off x="7672345" y="6244179"/>
            <a:ext cx="4519655" cy="609600"/>
          </a:xfrm>
          <a:prstGeom prst="rect">
            <a:avLst/>
          </a:prstGeom>
        </p:spPr>
        <p:txBody>
          <a:bodyPr lIns="91440" tIns="45720" rIns="91440" bIns="4572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ca-ES-valencia" sz="1800" dirty="0">
                <a:latin typeface="Arial"/>
                <a:cs typeface="Arial"/>
              </a:rPr>
              <a:t>Introducción a la nube pública</a:t>
            </a:r>
          </a:p>
        </p:txBody>
      </p:sp>
    </p:spTree>
    <p:extLst>
      <p:ext uri="{BB962C8B-B14F-4D97-AF65-F5344CB8AC3E}">
        <p14:creationId xmlns:p14="http://schemas.microsoft.com/office/powerpoint/2010/main" val="1473887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0BDE9-7FDD-426A-F6BF-F3B8280B3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1D8C3334-8DA3-B78D-DAB9-32B64D51B61C}"/>
              </a:ext>
            </a:extLst>
          </p:cNvPr>
          <p:cNvSpPr/>
          <p:nvPr/>
        </p:nvSpPr>
        <p:spPr>
          <a:xfrm>
            <a:off x="0" y="6244179"/>
            <a:ext cx="12192000" cy="613821"/>
          </a:xfrm>
          <a:prstGeom prst="rect">
            <a:avLst/>
          </a:prstGeom>
          <a:solidFill>
            <a:srgbClr val="EBBA95"/>
          </a:solidFill>
          <a:ln>
            <a:solidFill>
              <a:srgbClr val="EBB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A641575-FD62-FF96-3B2B-6FFA47B38D8C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D36C14"/>
          </a:solidFill>
          <a:ln>
            <a:solidFill>
              <a:srgbClr val="D36C1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a-ES-valencia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F53EF21-BF68-EC29-8E1F-BDBDB197250C}"/>
              </a:ext>
            </a:extLst>
          </p:cNvPr>
          <p:cNvSpPr/>
          <p:nvPr/>
        </p:nvSpPr>
        <p:spPr>
          <a:xfrm>
            <a:off x="0" y="6178998"/>
            <a:ext cx="12192000" cy="69402"/>
          </a:xfrm>
          <a:prstGeom prst="rect">
            <a:avLst/>
          </a:prstGeom>
          <a:solidFill>
            <a:srgbClr val="845C3C"/>
          </a:solidFill>
          <a:ln>
            <a:solidFill>
              <a:srgbClr val="845C3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a-ES-valencia" dirty="0"/>
          </a:p>
        </p:txBody>
      </p:sp>
      <p:sp>
        <p:nvSpPr>
          <p:cNvPr id="9" name="Subtítulo 4">
            <a:extLst>
              <a:ext uri="{FF2B5EF4-FFF2-40B4-BE49-F238E27FC236}">
                <a16:creationId xmlns:a16="http://schemas.microsoft.com/office/drawing/2014/main" id="{95F8E08B-53E7-96E1-EB39-DD6673B36B0B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3637280" cy="6096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a-ES-valencia" sz="2000" dirty="0">
                <a:latin typeface="Arial" panose="020B0604020202020204" pitchFamily="34" charset="0"/>
                <a:cs typeface="Arial" panose="020B0604020202020204" pitchFamily="34" charset="0"/>
              </a:rPr>
              <a:t>UT0. Presentación</a:t>
            </a:r>
          </a:p>
        </p:txBody>
      </p:sp>
      <p:sp>
        <p:nvSpPr>
          <p:cNvPr id="4" name="Título 6">
            <a:extLst>
              <a:ext uri="{FF2B5EF4-FFF2-40B4-BE49-F238E27FC236}">
                <a16:creationId xmlns:a16="http://schemas.microsoft.com/office/drawing/2014/main" id="{2A4E5AAF-4ECB-3558-4921-2418C2C48124}"/>
              </a:ext>
            </a:extLst>
          </p:cNvPr>
          <p:cNvSpPr txBox="1">
            <a:spLocks/>
          </p:cNvSpPr>
          <p:nvPr/>
        </p:nvSpPr>
        <p:spPr>
          <a:xfrm>
            <a:off x="1895061" y="289112"/>
            <a:ext cx="8401878" cy="76793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a-ES-valencia" sz="3000" b="1" dirty="0">
                <a:solidFill>
                  <a:srgbClr val="1C4C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NORMAS DEL AULA</a:t>
            </a:r>
          </a:p>
          <a:p>
            <a:endParaRPr lang="ca-ES-valencia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Imagen 16" descr="Imagen que contiene firmar, exterior, tráfico, bicicleta&#10;&#10;Descripción generada automáticamente">
            <a:extLst>
              <a:ext uri="{FF2B5EF4-FFF2-40B4-BE49-F238E27FC236}">
                <a16:creationId xmlns:a16="http://schemas.microsoft.com/office/drawing/2014/main" id="{938A50D0-BDF9-0FCF-6CF4-3DB16A219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509" y="6268720"/>
            <a:ext cx="578979" cy="585059"/>
          </a:xfrm>
          <a:prstGeom prst="rect">
            <a:avLst/>
          </a:prstGeom>
        </p:spPr>
      </p:pic>
      <p:pic>
        <p:nvPicPr>
          <p:cNvPr id="22" name="Imagen 21" descr="Un conjunto de letras negras en un fondo negro&#10;&#10;Descripción generada automáticamente con confianza baja">
            <a:extLst>
              <a:ext uri="{FF2B5EF4-FFF2-40B4-BE49-F238E27FC236}">
                <a16:creationId xmlns:a16="http://schemas.microsoft.com/office/drawing/2014/main" id="{C32DFF58-1A64-5E17-3028-94AE90E38D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5" y="293532"/>
            <a:ext cx="1620000" cy="43011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5F7C815-3239-5406-79D3-CF6733239EDC}"/>
              </a:ext>
            </a:extLst>
          </p:cNvPr>
          <p:cNvSpPr txBox="1"/>
          <p:nvPr/>
        </p:nvSpPr>
        <p:spPr>
          <a:xfrm>
            <a:off x="2737406" y="955456"/>
            <a:ext cx="9543754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ca-ES-valencia" sz="2000" dirty="0"/>
          </a:p>
          <a:p>
            <a:pPr marL="361950" indent="-361950">
              <a:buFont typeface="Wingdings" panose="05000000000000000000" pitchFamily="2" charset="2"/>
              <a:buChar char="ü"/>
            </a:pPr>
            <a:r>
              <a:rPr lang="ca-ES-valencia" sz="2000" dirty="0"/>
              <a:t>Está expresamente </a:t>
            </a:r>
            <a:r>
              <a:rPr lang="ca-ES-valencia" sz="2000" b="1" dirty="0"/>
              <a:t>prohibido comer</a:t>
            </a:r>
            <a:r>
              <a:rPr lang="ca-ES-valencia" sz="2000" dirty="0"/>
              <a:t>, </a:t>
            </a:r>
            <a:r>
              <a:rPr lang="ca-ES-valencia" sz="2000" b="1" dirty="0"/>
              <a:t>masticar chicle o beber </a:t>
            </a:r>
            <a:r>
              <a:rPr lang="ca-ES-valencia" sz="2000" dirty="0"/>
              <a:t>durante las</a:t>
            </a:r>
          </a:p>
          <a:p>
            <a:pPr marL="361950" indent="-361950"/>
            <a:r>
              <a:rPr lang="ca-ES-valencia" sz="2000" dirty="0"/>
              <a:t>	clases. Además, está expresamente </a:t>
            </a:r>
            <a:r>
              <a:rPr lang="ca-ES-valencia" sz="2000" b="1" dirty="0"/>
              <a:t>prohibido fumar en todo el recinto</a:t>
            </a:r>
            <a:r>
              <a:rPr lang="ca-ES-valencia" sz="2000" dirty="0"/>
              <a:t>.</a:t>
            </a:r>
          </a:p>
          <a:p>
            <a:endParaRPr lang="ca-ES-valencia" sz="8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ca-ES-valencia" sz="2000" dirty="0"/>
              <a:t>Está </a:t>
            </a:r>
            <a:r>
              <a:rPr lang="ca-ES-valencia" sz="2000" b="1" dirty="0"/>
              <a:t>prohibido abrir ordenadores</a:t>
            </a:r>
            <a:r>
              <a:rPr lang="ca-ES-valencia" sz="2000" dirty="0"/>
              <a:t>, </a:t>
            </a:r>
            <a:r>
              <a:rPr lang="ca-ES-valencia" sz="2000" b="1" dirty="0"/>
              <a:t>moverlos de su sitio original</a:t>
            </a:r>
            <a:r>
              <a:rPr lang="ca-ES-valencia" sz="2000" dirty="0"/>
              <a:t>, </a:t>
            </a:r>
            <a:r>
              <a:rPr lang="ca-ES-valencia" sz="2000" b="1" dirty="0"/>
              <a:t>desconectar cables y manipular cables de red del aula</a:t>
            </a:r>
            <a:r>
              <a:rPr lang="ca-ES-valencia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ca-ES-valencia" sz="8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ca-ES-valencia" sz="2000" b="1" dirty="0"/>
              <a:t>El orden y la limpieza</a:t>
            </a:r>
            <a:r>
              <a:rPr lang="ca-ES-valencia" sz="2000" dirty="0"/>
              <a:t> deben mantenerse en clase. En la </a:t>
            </a:r>
            <a:r>
              <a:rPr lang="ca-ES-valencia" sz="2000" b="1" dirty="0"/>
              <a:t>última hora de</a:t>
            </a:r>
          </a:p>
          <a:p>
            <a:pPr marL="361950" indent="-361950"/>
            <a:r>
              <a:rPr lang="ca-ES-valencia" sz="2000" b="1" dirty="0"/>
              <a:t>	clase</a:t>
            </a:r>
            <a:r>
              <a:rPr lang="ca-ES-valencia" sz="2000" dirty="0"/>
              <a:t>, </a:t>
            </a:r>
            <a:r>
              <a:rPr lang="ca-ES-valencia" sz="2000" b="1" dirty="0"/>
              <a:t>las ventanas también cerrarán</a:t>
            </a:r>
            <a:r>
              <a:rPr lang="ca-ES-valencia" sz="2000" dirty="0"/>
              <a:t>.</a:t>
            </a:r>
          </a:p>
          <a:p>
            <a:pPr marL="361950" indent="-361950"/>
            <a:endParaRPr lang="ca-ES-valencia" sz="1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ca-ES-valencia" sz="2000" dirty="0"/>
              <a:t>El alumnado debe hacer </a:t>
            </a:r>
            <a:r>
              <a:rPr lang="ca-ES-valencia" sz="2000" b="1" dirty="0"/>
              <a:t>un uso adecuado del material</a:t>
            </a:r>
            <a:r>
              <a:rPr lang="ca-ES-valencia" sz="2000" dirty="0"/>
              <a:t>, </a:t>
            </a:r>
            <a:r>
              <a:rPr lang="ca-ES-valencia" sz="2000" b="1" dirty="0"/>
              <a:t>ordenadores</a:t>
            </a:r>
          </a:p>
          <a:p>
            <a:pPr marL="361950" indent="-361950"/>
            <a:r>
              <a:rPr lang="ca-ES-valencia" sz="2000" b="1" dirty="0"/>
              <a:t>	portátiles y muebles de la clase</a:t>
            </a:r>
            <a:r>
              <a:rPr lang="ca-ES-valencia" sz="2000" dirty="0"/>
              <a:t>.</a:t>
            </a:r>
          </a:p>
          <a:p>
            <a:pPr marL="361950" indent="-361950"/>
            <a:endParaRPr lang="ca-ES-valencia" sz="8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ca-ES-valencia" sz="2000" dirty="0"/>
              <a:t>Se requiere </a:t>
            </a:r>
            <a:r>
              <a:rPr lang="ca-ES-valencia" sz="2000" b="1" dirty="0"/>
              <a:t>puntualidad</a:t>
            </a:r>
            <a:r>
              <a:rPr lang="ca-ES-valencia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ca-ES-valencia" sz="8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ca-ES-valencia" sz="2000" b="1" dirty="0"/>
              <a:t>Está prohibido el uso de dispositivos móviles en el centro</a:t>
            </a:r>
            <a:r>
              <a:rPr lang="ca-ES-valencia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ca-ES-valencia" sz="8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ca-ES-valencia" sz="2000" b="1" dirty="0"/>
              <a:t>No se tolerarán comportamientos incívicos en clase</a:t>
            </a:r>
            <a:r>
              <a:rPr lang="ca-ES-valencia" sz="2000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ca-ES-valencia" sz="8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ca-ES-valencia" sz="2000" b="1" dirty="0"/>
              <a:t>Está prohibido llevar gorra o gorro en clase</a:t>
            </a:r>
            <a:r>
              <a:rPr lang="ca-ES-valencia" sz="2000" dirty="0"/>
              <a:t>.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4EB3BB95-706A-9621-23EE-0C82D6898B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00" y="1319212"/>
            <a:ext cx="2228850" cy="4391025"/>
          </a:xfrm>
          <a:prstGeom prst="rect">
            <a:avLst/>
          </a:prstGeom>
        </p:spPr>
      </p:pic>
      <p:sp>
        <p:nvSpPr>
          <p:cNvPr id="10" name="Subtítulo 4">
            <a:extLst>
              <a:ext uri="{FF2B5EF4-FFF2-40B4-BE49-F238E27FC236}">
                <a16:creationId xmlns:a16="http://schemas.microsoft.com/office/drawing/2014/main" id="{5CA945D8-36FC-CBE2-CC58-DEE24D9815DC}"/>
              </a:ext>
            </a:extLst>
          </p:cNvPr>
          <p:cNvSpPr txBox="1">
            <a:spLocks/>
          </p:cNvSpPr>
          <p:nvPr/>
        </p:nvSpPr>
        <p:spPr>
          <a:xfrm>
            <a:off x="7672345" y="6244179"/>
            <a:ext cx="4519655" cy="609600"/>
          </a:xfrm>
          <a:prstGeom prst="rect">
            <a:avLst/>
          </a:prstGeom>
        </p:spPr>
        <p:txBody>
          <a:bodyPr lIns="91440" tIns="45720" rIns="91440" bIns="4572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ca-ES-valencia" sz="1800" dirty="0">
                <a:latin typeface="Arial"/>
                <a:cs typeface="Arial"/>
              </a:rPr>
              <a:t>Introducción a la nube pública</a:t>
            </a:r>
          </a:p>
        </p:txBody>
      </p:sp>
    </p:spTree>
    <p:extLst>
      <p:ext uri="{BB962C8B-B14F-4D97-AF65-F5344CB8AC3E}">
        <p14:creationId xmlns:p14="http://schemas.microsoft.com/office/powerpoint/2010/main" val="110019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6CA59CFC-1578-8422-841D-453DD64AB552}"/>
              </a:ext>
            </a:extLst>
          </p:cNvPr>
          <p:cNvSpPr/>
          <p:nvPr/>
        </p:nvSpPr>
        <p:spPr>
          <a:xfrm>
            <a:off x="0" y="6244179"/>
            <a:ext cx="12192000" cy="613821"/>
          </a:xfrm>
          <a:prstGeom prst="rect">
            <a:avLst/>
          </a:prstGeom>
          <a:solidFill>
            <a:srgbClr val="EBBA95"/>
          </a:solidFill>
          <a:ln>
            <a:solidFill>
              <a:srgbClr val="EBB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3513527-B3F1-451D-E616-97A67FBA2EA6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D36C14"/>
          </a:solidFill>
          <a:ln>
            <a:solidFill>
              <a:srgbClr val="D36C1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a-ES-valencia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CEA9969-48D3-52E4-2570-E4B2149BC83B}"/>
              </a:ext>
            </a:extLst>
          </p:cNvPr>
          <p:cNvSpPr/>
          <p:nvPr/>
        </p:nvSpPr>
        <p:spPr>
          <a:xfrm>
            <a:off x="0" y="6178998"/>
            <a:ext cx="12192000" cy="69402"/>
          </a:xfrm>
          <a:prstGeom prst="rect">
            <a:avLst/>
          </a:prstGeom>
          <a:solidFill>
            <a:srgbClr val="845C3C"/>
          </a:solidFill>
          <a:ln>
            <a:solidFill>
              <a:srgbClr val="845C3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a-ES-valencia" dirty="0"/>
          </a:p>
        </p:txBody>
      </p:sp>
      <p:sp>
        <p:nvSpPr>
          <p:cNvPr id="9" name="Subtítulo 4">
            <a:extLst>
              <a:ext uri="{FF2B5EF4-FFF2-40B4-BE49-F238E27FC236}">
                <a16:creationId xmlns:a16="http://schemas.microsoft.com/office/drawing/2014/main" id="{A34C720E-2407-8CE4-26CE-C2C710E8503B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3637280" cy="6096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a-ES-valencia" sz="2000" dirty="0">
                <a:latin typeface="Arial" panose="020B0604020202020204" pitchFamily="34" charset="0"/>
                <a:cs typeface="Arial" panose="020B0604020202020204" pitchFamily="34" charset="0"/>
              </a:rPr>
              <a:t>UT0. Presentación</a:t>
            </a:r>
          </a:p>
        </p:txBody>
      </p:sp>
      <p:pic>
        <p:nvPicPr>
          <p:cNvPr id="17" name="Imagen 16" descr="Imagen que contiene firmar, exterior, tráfico, bicicleta&#10;&#10;Descripción generada automáticamente">
            <a:extLst>
              <a:ext uri="{FF2B5EF4-FFF2-40B4-BE49-F238E27FC236}">
                <a16:creationId xmlns:a16="http://schemas.microsoft.com/office/drawing/2014/main" id="{E6AB5299-DA67-B3FC-6BFA-038956705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509" y="6268720"/>
            <a:ext cx="578979" cy="585059"/>
          </a:xfrm>
          <a:prstGeom prst="rect">
            <a:avLst/>
          </a:prstGeom>
        </p:spPr>
      </p:pic>
      <p:pic>
        <p:nvPicPr>
          <p:cNvPr id="22" name="Imagen 21" descr="Un conjunto de letras negras en un fondo negro&#10;&#10;Descripción generada automáticamente con confianza baja">
            <a:extLst>
              <a:ext uri="{FF2B5EF4-FFF2-40B4-BE49-F238E27FC236}">
                <a16:creationId xmlns:a16="http://schemas.microsoft.com/office/drawing/2014/main" id="{AD8F5252-C70B-72D4-1C2F-0E3C3AC8A1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5" y="293532"/>
            <a:ext cx="1620000" cy="430110"/>
          </a:xfrm>
          <a:prstGeom prst="rect">
            <a:avLst/>
          </a:prstGeom>
        </p:spPr>
      </p:pic>
      <p:sp>
        <p:nvSpPr>
          <p:cNvPr id="5" name="Título 6">
            <a:extLst>
              <a:ext uri="{FF2B5EF4-FFF2-40B4-BE49-F238E27FC236}">
                <a16:creationId xmlns:a16="http://schemas.microsoft.com/office/drawing/2014/main" id="{369C4C0E-DDAE-8FA3-5836-A6B146C54880}"/>
              </a:ext>
            </a:extLst>
          </p:cNvPr>
          <p:cNvSpPr txBox="1">
            <a:spLocks/>
          </p:cNvSpPr>
          <p:nvPr/>
        </p:nvSpPr>
        <p:spPr>
          <a:xfrm>
            <a:off x="1645015" y="335398"/>
            <a:ext cx="8901966" cy="76793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ca-ES-valencia" sz="3000" b="1" dirty="0">
              <a:solidFill>
                <a:srgbClr val="1C4C7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a-ES-valencia" sz="3000" b="1" dirty="0">
                <a:solidFill>
                  <a:srgbClr val="1C4C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PREGUNTAS</a:t>
            </a:r>
          </a:p>
          <a:p>
            <a:r>
              <a:rPr lang="ca-ES-valencia" sz="2400" dirty="0">
                <a:latin typeface="Arial" panose="020B0604020202020204" pitchFamily="34" charset="0"/>
                <a:cs typeface="Arial" panose="020B0604020202020204" pitchFamily="34" charset="0"/>
              </a:rPr>
              <a:t>DUDAS Y SUGERENCIAS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6E37C70E-3063-CC72-1A20-35953A1D5B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3037" y="1042987"/>
            <a:ext cx="3019425" cy="5038725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A4AFC880-816C-31BA-223D-CD6001B024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0350" y="1457325"/>
            <a:ext cx="4610100" cy="4324350"/>
          </a:xfrm>
          <a:prstGeom prst="rect">
            <a:avLst/>
          </a:prstGeom>
        </p:spPr>
      </p:pic>
      <p:sp>
        <p:nvSpPr>
          <p:cNvPr id="8" name="Subtítulo 4">
            <a:extLst>
              <a:ext uri="{FF2B5EF4-FFF2-40B4-BE49-F238E27FC236}">
                <a16:creationId xmlns:a16="http://schemas.microsoft.com/office/drawing/2014/main" id="{16C51A3F-02DC-87A2-031D-C5168F40E947}"/>
              </a:ext>
            </a:extLst>
          </p:cNvPr>
          <p:cNvSpPr txBox="1">
            <a:spLocks/>
          </p:cNvSpPr>
          <p:nvPr/>
        </p:nvSpPr>
        <p:spPr>
          <a:xfrm>
            <a:off x="7672345" y="6244179"/>
            <a:ext cx="4519655" cy="609600"/>
          </a:xfrm>
          <a:prstGeom prst="rect">
            <a:avLst/>
          </a:prstGeom>
        </p:spPr>
        <p:txBody>
          <a:bodyPr lIns="91440" tIns="45720" rIns="91440" bIns="4572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ca-ES-valencia" sz="1800" dirty="0">
                <a:latin typeface="Arial"/>
                <a:cs typeface="Arial"/>
              </a:rPr>
              <a:t>Introducción a la nube pública</a:t>
            </a:r>
          </a:p>
        </p:txBody>
      </p:sp>
    </p:spTree>
    <p:extLst>
      <p:ext uri="{BB962C8B-B14F-4D97-AF65-F5344CB8AC3E}">
        <p14:creationId xmlns:p14="http://schemas.microsoft.com/office/powerpoint/2010/main" val="2714513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2563A-4737-93B2-12F4-5721DB815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9AB1C795-ED73-3E16-E801-D49F5C7ADF82}"/>
              </a:ext>
            </a:extLst>
          </p:cNvPr>
          <p:cNvSpPr/>
          <p:nvPr/>
        </p:nvSpPr>
        <p:spPr>
          <a:xfrm>
            <a:off x="0" y="6244179"/>
            <a:ext cx="12192000" cy="613821"/>
          </a:xfrm>
          <a:prstGeom prst="rect">
            <a:avLst/>
          </a:prstGeom>
          <a:solidFill>
            <a:srgbClr val="EBBA95"/>
          </a:solidFill>
          <a:ln>
            <a:solidFill>
              <a:srgbClr val="EBBA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36B3AEA-09B5-B757-AA03-58F07EBB8FC6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D36C14"/>
          </a:solidFill>
          <a:ln>
            <a:solidFill>
              <a:srgbClr val="D36C1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a-ES-valencia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BCEEEC2-9DDA-5735-9D3A-6E450971398C}"/>
              </a:ext>
            </a:extLst>
          </p:cNvPr>
          <p:cNvSpPr/>
          <p:nvPr/>
        </p:nvSpPr>
        <p:spPr>
          <a:xfrm>
            <a:off x="0" y="6178998"/>
            <a:ext cx="12192000" cy="69402"/>
          </a:xfrm>
          <a:prstGeom prst="rect">
            <a:avLst/>
          </a:prstGeom>
          <a:solidFill>
            <a:srgbClr val="845C3C"/>
          </a:solidFill>
          <a:ln>
            <a:solidFill>
              <a:srgbClr val="845C3C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a-ES-valencia" dirty="0"/>
          </a:p>
        </p:txBody>
      </p:sp>
      <p:sp>
        <p:nvSpPr>
          <p:cNvPr id="9" name="Subtítulo 4">
            <a:extLst>
              <a:ext uri="{FF2B5EF4-FFF2-40B4-BE49-F238E27FC236}">
                <a16:creationId xmlns:a16="http://schemas.microsoft.com/office/drawing/2014/main" id="{22E341A6-210D-1A8C-AC17-4198BE16D608}"/>
              </a:ext>
            </a:extLst>
          </p:cNvPr>
          <p:cNvSpPr txBox="1">
            <a:spLocks/>
          </p:cNvSpPr>
          <p:nvPr/>
        </p:nvSpPr>
        <p:spPr>
          <a:xfrm>
            <a:off x="0" y="6248400"/>
            <a:ext cx="3637280" cy="6096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a-ES-valencia" sz="2000" dirty="0">
                <a:latin typeface="Arial" panose="020B0604020202020204" pitchFamily="34" charset="0"/>
                <a:cs typeface="Arial" panose="020B0604020202020204" pitchFamily="34" charset="0"/>
              </a:rPr>
              <a:t>UT0. Presentación</a:t>
            </a:r>
          </a:p>
        </p:txBody>
      </p:sp>
      <p:pic>
        <p:nvPicPr>
          <p:cNvPr id="17" name="Imagen 16" descr="Imagen que contiene firmar, exterior, tráfico, bicicleta&#10;&#10;Descripción generada automáticamente">
            <a:extLst>
              <a:ext uri="{FF2B5EF4-FFF2-40B4-BE49-F238E27FC236}">
                <a16:creationId xmlns:a16="http://schemas.microsoft.com/office/drawing/2014/main" id="{C5F151E6-83DD-8FAB-87DF-AFE9C0567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509" y="6268720"/>
            <a:ext cx="578979" cy="585059"/>
          </a:xfrm>
          <a:prstGeom prst="rect">
            <a:avLst/>
          </a:prstGeom>
        </p:spPr>
      </p:pic>
      <p:pic>
        <p:nvPicPr>
          <p:cNvPr id="22" name="Imagen 21" descr="Un conjunto de letras negras en un fondo negro&#10;&#10;Descripción generada automáticamente con confianza baja">
            <a:extLst>
              <a:ext uri="{FF2B5EF4-FFF2-40B4-BE49-F238E27FC236}">
                <a16:creationId xmlns:a16="http://schemas.microsoft.com/office/drawing/2014/main" id="{EF3A7955-B72A-50DC-9E90-EBD4569D1F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735" y="293532"/>
            <a:ext cx="1620000" cy="430110"/>
          </a:xfrm>
          <a:prstGeom prst="rect">
            <a:avLst/>
          </a:prstGeom>
        </p:spPr>
      </p:pic>
      <p:sp>
        <p:nvSpPr>
          <p:cNvPr id="5" name="Título 6">
            <a:extLst>
              <a:ext uri="{FF2B5EF4-FFF2-40B4-BE49-F238E27FC236}">
                <a16:creationId xmlns:a16="http://schemas.microsoft.com/office/drawing/2014/main" id="{3A155A83-7AF4-B734-993D-CBB3E9B15624}"/>
              </a:ext>
            </a:extLst>
          </p:cNvPr>
          <p:cNvSpPr txBox="1">
            <a:spLocks/>
          </p:cNvSpPr>
          <p:nvPr/>
        </p:nvSpPr>
        <p:spPr>
          <a:xfrm>
            <a:off x="1645015" y="335398"/>
            <a:ext cx="8901966" cy="76793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ca-ES-valencia" sz="3000" b="1" dirty="0">
              <a:solidFill>
                <a:srgbClr val="1C4C7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a-ES-valencia" sz="3000" b="1" dirty="0">
                <a:solidFill>
                  <a:srgbClr val="1C4C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AULES</a:t>
            </a:r>
            <a:endParaRPr lang="ca-ES-valenci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ubtítulo 4">
            <a:extLst>
              <a:ext uri="{FF2B5EF4-FFF2-40B4-BE49-F238E27FC236}">
                <a16:creationId xmlns:a16="http://schemas.microsoft.com/office/drawing/2014/main" id="{9FF16AF0-9EF6-5336-03F1-F472727C2C00}"/>
              </a:ext>
            </a:extLst>
          </p:cNvPr>
          <p:cNvSpPr txBox="1">
            <a:spLocks/>
          </p:cNvSpPr>
          <p:nvPr/>
        </p:nvSpPr>
        <p:spPr>
          <a:xfrm>
            <a:off x="513909" y="1284928"/>
            <a:ext cx="11164181" cy="4648511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+mj-lt"/>
              <a:buAutoNum type="arabicPeriod"/>
            </a:pPr>
            <a:r>
              <a:rPr lang="ca-ES-valencia" sz="2000" b="1" dirty="0">
                <a:latin typeface="Arial"/>
                <a:cs typeface="Arial"/>
              </a:rPr>
              <a:t>Aules.</a:t>
            </a:r>
          </a:p>
          <a:p>
            <a:pPr marL="457200" indent="-457200" algn="just">
              <a:buFont typeface="+mj-lt"/>
              <a:buAutoNum type="arabicPeriod"/>
            </a:pPr>
            <a:endParaRPr lang="ca-ES-valencia" sz="2000" b="1" dirty="0">
              <a:latin typeface="Arial"/>
              <a:cs typeface="Arial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ca-ES-valencia" sz="2000" b="1" dirty="0">
                <a:latin typeface="Arial"/>
                <a:cs typeface="Arial"/>
              </a:rPr>
              <a:t>Github: </a:t>
            </a:r>
          </a:p>
          <a:p>
            <a:pPr marL="0" indent="0" algn="just">
              <a:buNone/>
            </a:pPr>
            <a:r>
              <a:rPr lang="ca-ES-valencia" sz="2000" b="1" dirty="0">
                <a:latin typeface="Arial"/>
                <a:cs typeface="Arial"/>
                <a:hlinkClick r:id="rId4"/>
              </a:rPr>
              <a:t>https://javieregeablasco.github.io/Apuntes/DAW/DAW_2/AWS/UT.%200-Temario/</a:t>
            </a:r>
            <a:endParaRPr lang="ca-ES-valencia" sz="2000" b="1" dirty="0">
              <a:latin typeface="Arial"/>
              <a:cs typeface="Arial"/>
            </a:endParaRPr>
          </a:p>
          <a:p>
            <a:pPr marL="457200" indent="-457200" algn="just">
              <a:buFont typeface="+mj-lt"/>
              <a:buAutoNum type="arabicPeriod"/>
            </a:pPr>
            <a:endParaRPr lang="ca-ES-valencia" sz="2000" b="1" dirty="0">
              <a:latin typeface="Arial"/>
              <a:cs typeface="Arial"/>
            </a:endParaRPr>
          </a:p>
        </p:txBody>
      </p:sp>
      <p:sp>
        <p:nvSpPr>
          <p:cNvPr id="10" name="Subtítulo 4">
            <a:extLst>
              <a:ext uri="{FF2B5EF4-FFF2-40B4-BE49-F238E27FC236}">
                <a16:creationId xmlns:a16="http://schemas.microsoft.com/office/drawing/2014/main" id="{4419CD67-89F8-083A-B55F-3CCAF5A22944}"/>
              </a:ext>
            </a:extLst>
          </p:cNvPr>
          <p:cNvSpPr txBox="1">
            <a:spLocks/>
          </p:cNvSpPr>
          <p:nvPr/>
        </p:nvSpPr>
        <p:spPr>
          <a:xfrm>
            <a:off x="7672345" y="6244179"/>
            <a:ext cx="4519655" cy="609600"/>
          </a:xfrm>
          <a:prstGeom prst="rect">
            <a:avLst/>
          </a:prstGeom>
        </p:spPr>
        <p:txBody>
          <a:bodyPr lIns="91440" tIns="45720" rIns="91440" bIns="4572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ca-ES-valencia" sz="1800" dirty="0">
                <a:latin typeface="Arial"/>
                <a:cs typeface="Arial"/>
              </a:rPr>
              <a:t>Introducción a la nube pública</a:t>
            </a:r>
          </a:p>
        </p:txBody>
      </p:sp>
    </p:spTree>
    <p:extLst>
      <p:ext uri="{BB962C8B-B14F-4D97-AF65-F5344CB8AC3E}">
        <p14:creationId xmlns:p14="http://schemas.microsoft.com/office/powerpoint/2010/main" val="24233927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Naranja amarillo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20cf46-aa12-4989-bf31-d1f3ef84801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0E09E530733144B5C4EF553A6F1A0D" ma:contentTypeVersion="11" ma:contentTypeDescription="Create a new document." ma:contentTypeScope="" ma:versionID="da78ba8505b436c90e69baa8cb1e310d">
  <xsd:schema xmlns:xsd="http://www.w3.org/2001/XMLSchema" xmlns:xs="http://www.w3.org/2001/XMLSchema" xmlns:p="http://schemas.microsoft.com/office/2006/metadata/properties" xmlns:ns2="c820cf46-aa12-4989-bf31-d1f3ef84801d" targetNamespace="http://schemas.microsoft.com/office/2006/metadata/properties" ma:root="true" ma:fieldsID="9b30a4b67d39003b6f936eedc5ab8fc3" ns2:_="">
    <xsd:import namespace="c820cf46-aa12-4989-bf31-d1f3ef8480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20cf46-aa12-4989-bf31-d1f3ef8480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f4f5d4c4-0854-4d98-839d-01d00d4fd45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6178AC-92BA-4C08-B86B-D32822142D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DEE653-40C2-4978-B2EA-6B294424D819}">
  <ds:schemaRefs>
    <ds:schemaRef ds:uri="http://purl.org/dc/dcmitype/"/>
    <ds:schemaRef ds:uri="http://www.w3.org/XML/1998/namespace"/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c820cf46-aa12-4989-bf31-d1f3ef84801d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791E1098-AB23-4B59-A93E-513AD3FF1B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20cf46-aa12-4989-bf31-d1f3ef8480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633</TotalTime>
  <Words>274</Words>
  <Application>Microsoft Office PowerPoint</Application>
  <PresentationFormat>Panorámica</PresentationFormat>
  <Paragraphs>60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Century Gothic</vt:lpstr>
      <vt:lpstr>Wingdings</vt:lpstr>
      <vt:lpstr>Tema de Office</vt:lpstr>
      <vt:lpstr>UT0. PRESENTACIÓN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PEREZ GONZALEZ, PABLO</dc:creator>
  <cp:lastModifiedBy>EGEA BLASCO, JAVIER</cp:lastModifiedBy>
  <cp:revision>193</cp:revision>
  <dcterms:created xsi:type="dcterms:W3CDTF">2024-06-27T10:28:04Z</dcterms:created>
  <dcterms:modified xsi:type="dcterms:W3CDTF">2026-09-08T10:42:29Z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0x010100A50E09E530733144B5C4EF553A6F1A0D</vt:lpwstr>
  </property>
  <property fmtid="{D5CDD505-2E9C-101B-9397-08002B2CF9AE}" pid="3" name="MediaServiceImageTags">
    <vt:lpwstr/>
  </property>
</Properties>
</file>